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6583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4F0E6"/>
                </a:solidFill>
                <a:latin typeface="Aptos"/>
              </a:rPr>
              <a:t>KITCHEN DISPLAY SYSTEM (KDS)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C9A96E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78F82"/>
                </a:solidFill>
                <a:latin typeface="Aptos"/>
              </a:rPr>
              <a:t>A clear path from incoming order to kitchen handoff.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731520"/>
            <a:ext cx="4892040" cy="516636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84848" y="1078992"/>
            <a:ext cx="4224528" cy="457200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170432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C9A96E"/>
                </a:solidFill>
                <a:latin typeface="Aptos"/>
              </a:rPr>
              <a:t>PREVA KITCHEN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828800"/>
            <a:ext cx="42245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4F0E6"/>
                </a:solidFill>
                <a:latin typeface="Aptos"/>
              </a:rPr>
              <a:t>KDS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487168"/>
            <a:ext cx="3474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78F82"/>
                </a:solidFill>
                <a:latin typeface="Aptos"/>
              </a:rPr>
              <a:t>User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2724912"/>
            <a:ext cx="3493008" cy="438912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798064"/>
            <a:ext cx="3017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4F0E6"/>
                </a:solidFill>
                <a:latin typeface="Aptos"/>
              </a:rPr>
              <a:t>chef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401568"/>
            <a:ext cx="3474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78F82"/>
                </a:solidFill>
                <a:latin typeface="Aptos"/>
              </a:rPr>
              <a:t>Password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3639312"/>
            <a:ext cx="3493008" cy="438912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712463"/>
            <a:ext cx="3017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78F82"/>
                </a:solidFill>
                <a:latin typeface="Aptos"/>
              </a:rPr>
              <a:t>************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4389120"/>
            <a:ext cx="3493008" cy="484632"/>
          </a:xfrm>
          <a:prstGeom prst="roundRect">
            <a:avLst>
              <a:gd name="adj" fmla="val 12000"/>
            </a:avLst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4489704"/>
            <a:ext cx="349300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F0D0B"/>
                </a:solidFill>
                <a:latin typeface="Aptos"/>
              </a:rP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5257800"/>
            <a:ext cx="34930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978F82"/>
                </a:solidFill>
                <a:latin typeface="Aptos"/>
              </a:rPr>
              <a:t>SECURE KITCHEN TERMINAL</a:t>
            </a:r>
          </a:p>
        </p:txBody>
      </p:sp>
      <p:pic>
        <p:nvPicPr>
          <p:cNvPr id="19" name="Picture 18" descr="real-kds-liv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977639"/>
            <a:ext cx="4754880" cy="1389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10528" y="5431536"/>
            <a:ext cx="4754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78F82"/>
                </a:solidFill>
                <a:latin typeface="Aptos"/>
              </a:rPr>
              <a:t>Actual Preva Kitchen Live Display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Aptos"/>
              </a:rPr>
              <a:t>01  /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0E6"/>
                </a:solidFill>
                <a:latin typeface="Aptos"/>
              </a:rPr>
              <a:t>What is a Kitchen Display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57200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78F82"/>
                </a:solidFill>
                <a:latin typeface="Aptos"/>
              </a:rPr>
              <a:t>PREVA KITCHEN  / 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617720" cy="416052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C9A96E"/>
                </a:solidFill>
                <a:latin typeface="Aptos"/>
              </a:rPr>
              <a:t>KDS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7490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4F0E6"/>
                </a:solidFill>
                <a:latin typeface="Aptos"/>
              </a:rPr>
              <a:t>A digital screen that replaces paper order tickets in a restaurant kitchen.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78F82"/>
                </a:solidFill>
                <a:latin typeface="Aptos"/>
              </a:rPr>
              <a:t>Orders arrive in real time, stay visible through every kitchen stage, and give the team one shared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600200"/>
            <a:ext cx="5394960" cy="416052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4526280" cy="658368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176272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DDBF80"/>
          </a:solidFill>
          <a:ln>
            <a:solidFill>
              <a:srgbClr val="DD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12140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4F0E6"/>
                </a:solidFill>
                <a:latin typeface="Aptos"/>
              </a:rPr>
              <a:t>INCOMING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140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78F82"/>
                </a:solidFill>
                <a:latin typeface="Aptos"/>
              </a:rPr>
              <a:t>Live kitchen 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4526280" cy="658368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9088" y="3227832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F0D080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17296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4F0E6"/>
                </a:solidFill>
                <a:latin typeface="Aptos"/>
              </a:rPr>
              <a:t>PREPARING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17296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78F82"/>
                </a:solidFill>
                <a:latin typeface="Aptos"/>
              </a:rPr>
              <a:t>Live kitchen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4526280" cy="658368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4279392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6BAE7D"/>
          </a:solidFill>
          <a:ln>
            <a:solidFill>
              <a:srgbClr val="6BA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422452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4F0E6"/>
                </a:solidFill>
                <a:latin typeface="Aptos"/>
              </a:rP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224528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78F82"/>
                </a:solidFill>
                <a:latin typeface="Aptos"/>
              </a:rPr>
              <a:t>Live kitchen visibility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783080"/>
            <a:ext cx="5029200" cy="3246120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eal-kds-take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847088"/>
            <a:ext cx="4901184" cy="28986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53328" y="4864608"/>
            <a:ext cx="49011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78F82"/>
                </a:solidFill>
                <a:latin typeface="Aptos"/>
              </a:rPr>
              <a:t>Actual Preva Kitchen Take Order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Aptos"/>
              </a:rPr>
              <a:t>02  / 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0E6"/>
                </a:solidFill>
                <a:latin typeface="Aptos"/>
              </a:rPr>
              <a:t>How It Works — Order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57200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78F82"/>
                </a:solidFill>
                <a:latin typeface="Aptos"/>
              </a:rPr>
              <a:t>PREVA KITCHEN  / 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16152" y="157276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691640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0D0B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4F0E6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78F82"/>
                </a:solidFill>
                <a:latin typeface="Aptos"/>
              </a:rPr>
              <a:t>places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6517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9A96E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96596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39" y="157276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691640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0D0B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7" y="2331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4F0E6"/>
                </a:solidFill>
                <a:latin typeface="Aptos"/>
              </a:rPr>
              <a:t>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7" y="2788920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78F82"/>
                </a:solidFill>
                <a:latin typeface="Aptos"/>
              </a:rPr>
              <a:t>validates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6517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9A96E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48656" y="196596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24728" y="157276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8" y="1691640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0D0B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331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4F0E6"/>
                </a:solidFill>
                <a:latin typeface="Aptos"/>
              </a:rPr>
              <a:t>KDS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2788920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78F82"/>
                </a:solidFill>
                <a:latin typeface="Aptos"/>
              </a:rPr>
              <a:t>alerts the kitchen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6517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9A96E"/>
                </a:solidFill>
                <a:latin typeface="Apto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2944" y="196596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9016" y="157276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6BAE7D"/>
          </a:solidFill>
          <a:ln>
            <a:solidFill>
              <a:srgbClr val="6BA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6" y="1691640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0D0B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331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4F0E6"/>
                </a:solidFill>
                <a:latin typeface="Aptos"/>
              </a:rPr>
              <a:t>Kitchen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2788920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78F82"/>
                </a:solidFill>
                <a:latin typeface="Aptos"/>
              </a:rPr>
              <a:t>prepares food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26517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9A96E"/>
                </a:solidFill>
                <a:latin typeface="Aptos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57232" y="196596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33304" y="157276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6BAE7D"/>
          </a:solidFill>
          <a:ln>
            <a:solidFill>
              <a:srgbClr val="6BA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33304" y="1691640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0D0B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331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4F0E6"/>
                </a:solidFill>
                <a:latin typeface="Aptos"/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2788920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78F82"/>
                </a:solidFill>
                <a:latin typeface="Aptos"/>
              </a:rPr>
              <a:t>handoff 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892040"/>
            <a:ext cx="8321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78F82"/>
                </a:solidFill>
                <a:latin typeface="Aptos"/>
              </a:rPr>
              <a:t>Every status change is timestamped, visible, and shared across the kitchen.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Aptos"/>
              </a:rPr>
              <a:t>03  /  LIVE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0E6"/>
                </a:solidFill>
                <a:latin typeface="Aptos"/>
              </a:rPr>
              <a:t>KDS Screen — One View of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57200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78F82"/>
                </a:solidFill>
                <a:latin typeface="Aptos"/>
              </a:rPr>
              <a:t>PREVA KITCHEN  / 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11384280" cy="507492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965960" cy="4617720"/>
          </a:xfrm>
          <a:prstGeom prst="roundRect">
            <a:avLst>
              <a:gd name="adj" fmla="val 12000"/>
            </a:avLst>
          </a:prstGeom>
          <a:solidFill>
            <a:srgbClr val="14110E"/>
          </a:solidFill>
          <a:ln>
            <a:solidFill>
              <a:srgbClr val="141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4F0E6"/>
                </a:solidFill>
                <a:latin typeface="Aptos"/>
              </a:rPr>
              <a:t>P  Preva Kitchen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95144"/>
            <a:ext cx="1737360" cy="384048"/>
          </a:xfrm>
          <a:prstGeom prst="roundRect">
            <a:avLst>
              <a:gd name="adj" fmla="val 12000"/>
            </a:avLst>
          </a:prstGeom>
          <a:solidFill>
            <a:srgbClr val="362B1E"/>
          </a:solidFill>
          <a:ln>
            <a:solidFill>
              <a:srgbClr val="36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Aptos"/>
              </a:rPr>
              <a:t>Live Display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34639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Take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337560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Table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840480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KDS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43400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KDS 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554480"/>
            <a:ext cx="8549640" cy="502920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2B23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709928"/>
            <a:ext cx="2926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9A96E"/>
                </a:solidFill>
                <a:latin typeface="Aptos"/>
              </a:rPr>
              <a:t>KDS LIVE DISPLAY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645920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F0D080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655064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0D0B"/>
                </a:solidFill>
                <a:latin typeface="Aptos"/>
              </a:rPr>
              <a:t>WAITING  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645920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6BAE7D"/>
          </a:solidFill>
          <a:ln>
            <a:solidFill>
              <a:srgbClr val="6BA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655064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0D0B"/>
                </a:solidFill>
                <a:latin typeface="Aptos"/>
              </a:rPr>
              <a:t>READY  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423160"/>
            <a:ext cx="2514600" cy="3246120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281635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0E6"/>
                </a:solidFill>
                <a:latin typeface="Aptos"/>
              </a:rPr>
              <a:t>#1042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852928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78F82"/>
                </a:solidFill>
                <a:latin typeface="Aptos"/>
              </a:rPr>
              <a:t>Table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81528" y="333756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0F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3493008"/>
            <a:ext cx="187451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4F0E6"/>
                </a:solidFill>
                <a:latin typeface="Aptos"/>
              </a:rPr>
              <a:t>2x Wings  /  1x Fries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1528" y="4160520"/>
            <a:ext cx="1188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78F82"/>
                </a:solidFill>
                <a:latin typeface="Aptos"/>
              </a:rPr>
              <a:t>ORDER TIMER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4096512"/>
            <a:ext cx="868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F0D080"/>
                </a:solidFill>
                <a:latin typeface="Aptos"/>
              </a:rPr>
              <a:t>02:14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81528" y="480060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0D080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8" y="480974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0D0B"/>
                </a:solidFill>
                <a:latin typeface="Aptos"/>
              </a:rPr>
              <a:t>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855464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78F82"/>
                </a:solidFill>
                <a:latin typeface="Aptos"/>
              </a:rPr>
              <a:t>Station / Expo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1417320"/>
            <a:ext cx="10881360" cy="3429000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-kds-liv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10735056" cy="31455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1520" y="4965192"/>
            <a:ext cx="107350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78F82"/>
                </a:solidFill>
                <a:latin typeface="Aptos"/>
              </a:rPr>
              <a:t>Actual running Preva KDS Live Display — full captured screen from top navigation to status area.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79" y="2423160"/>
            <a:ext cx="2514600" cy="3246120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DD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7" y="281635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0E6"/>
                </a:solidFill>
                <a:latin typeface="Aptos"/>
              </a:rPr>
              <a:t>#1043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2852928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78F82"/>
                </a:solidFill>
                <a:latin typeface="Aptos"/>
              </a:rPr>
              <a:t>Delivery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70447" y="333756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0F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19" y="3493008"/>
            <a:ext cx="187451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4F0E6"/>
                </a:solidFill>
                <a:latin typeface="Aptos"/>
              </a:rPr>
              <a:t>1x Salmon  /  2x Sides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7" y="4160520"/>
            <a:ext cx="1188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78F82"/>
                </a:solidFill>
                <a:latin typeface="Aptos"/>
              </a:rPr>
              <a:t>ORDER TIMER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4096512"/>
            <a:ext cx="868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DDBF80"/>
                </a:solidFill>
                <a:latin typeface="Aptos"/>
              </a:rPr>
              <a:t>08:32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70447" y="480060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DDBF80"/>
          </a:solidFill>
          <a:ln>
            <a:solidFill>
              <a:srgbClr val="DD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0447" y="480974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0D0B"/>
                </a:solidFill>
                <a:latin typeface="Aptos"/>
              </a:rPr>
              <a:t>IN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7999" y="4855464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78F82"/>
                </a:solidFill>
                <a:latin typeface="Aptos"/>
              </a:rPr>
              <a:t>Station / Expo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1417320"/>
            <a:ext cx="10881360" cy="3429000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eal-kds-liv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10735056" cy="31455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31520" y="4965192"/>
            <a:ext cx="107350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78F82"/>
                </a:solidFill>
                <a:latin typeface="Aptos"/>
              </a:rPr>
              <a:t>Actual running Preva KDS Live Display — full captured screen from top navigation to status area.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58200" y="2423160"/>
            <a:ext cx="2514600" cy="3246120"/>
          </a:xfrm>
          <a:prstGeom prst="roundRect">
            <a:avLst>
              <a:gd name="adj" fmla="val 12000"/>
            </a:avLst>
          </a:prstGeom>
          <a:solidFill>
            <a:srgbClr val="2B231B"/>
          </a:solidFill>
          <a:ln>
            <a:solidFill>
              <a:srgbClr val="6BA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9368" y="281635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F0E6"/>
                </a:solidFill>
                <a:latin typeface="Aptos"/>
              </a:rPr>
              <a:t>#1044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2852928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978F82"/>
                </a:solidFill>
                <a:latin typeface="Aptos"/>
              </a:rPr>
              <a:t>Pickup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59368" y="333756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0F0D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3493008"/>
            <a:ext cx="187451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4F0E6"/>
                </a:solidFill>
                <a:latin typeface="Aptos"/>
              </a:rPr>
              <a:t>3x Pasta  /  1x Salad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59368" y="4160520"/>
            <a:ext cx="1188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78F82"/>
                </a:solidFill>
                <a:latin typeface="Aptos"/>
              </a:rPr>
              <a:t>ORDER TIMER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1512" y="4096512"/>
            <a:ext cx="868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6BAE7D"/>
                </a:solidFill>
                <a:latin typeface="Aptos"/>
              </a:rPr>
              <a:t>14:05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59368" y="480060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6BAE7D"/>
          </a:solidFill>
          <a:ln>
            <a:solidFill>
              <a:srgbClr val="6BA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9368" y="480974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0D0B"/>
                </a:solidFill>
                <a:latin typeface="Aptos"/>
              </a:rPr>
              <a:t>READY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4855464"/>
            <a:ext cx="10972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978F82"/>
                </a:solidFill>
                <a:latin typeface="Aptos"/>
              </a:rPr>
              <a:t>Station / Expo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1417320"/>
            <a:ext cx="10881360" cy="3429000"/>
          </a:xfrm>
          <a:prstGeom prst="roundRect">
            <a:avLst>
              <a:gd name="adj" fmla="val 12000"/>
            </a:avLst>
          </a:prstGeom>
          <a:solidFill>
            <a:srgbClr val="0F0D0B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eal-kds-liv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10735056" cy="314553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31520" y="4965192"/>
            <a:ext cx="107350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78F82"/>
                </a:solidFill>
                <a:latin typeface="Aptos"/>
              </a:rPr>
              <a:t>Actual running Preva KDS Live Display — full captured screen from top navigation to status area.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Aptos"/>
              </a:rPr>
              <a:t>04  / 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0E6"/>
                </a:solidFill>
                <a:latin typeface="Aptos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57200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78F82"/>
                </a:solidFill>
                <a:latin typeface="Aptos"/>
              </a:rPr>
              <a:t>PREVA KITCHEN  / 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132588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659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F0D0B"/>
                </a:solidFill>
                <a:latin typeface="Aptos"/>
              </a:rPr>
              <a:t>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84832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4F0E6"/>
                </a:solidFill>
                <a:latin typeface="Aptos"/>
              </a:rPr>
              <a:t>Real-time order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496312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Built for a busy service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37560" cy="132588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59" y="19659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F0D080"/>
          </a:solidFill>
          <a:ln>
            <a:solidFill>
              <a:srgbClr val="F0D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176272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F0D0B"/>
                </a:solidFill>
                <a:latin typeface="Aptos"/>
              </a:rPr>
              <a:t>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2084832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4F0E6"/>
                </a:solidFill>
                <a:latin typeface="Aptos"/>
              </a:rPr>
              <a:t>Color-coded order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59" y="2496312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Built for a busy service 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37560" cy="132588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19659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DDBF80"/>
          </a:solidFill>
          <a:ln>
            <a:solidFill>
              <a:srgbClr val="DD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176272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F0D0B"/>
                </a:solidFill>
                <a:latin typeface="Aptos"/>
              </a:rPr>
              <a:t>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084832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4F0E6"/>
                </a:solidFill>
                <a:latin typeface="Aptos"/>
              </a:rPr>
              <a:t>Order timers and SLA warnings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496312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Built for a busy service 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20439"/>
            <a:ext cx="3337560" cy="132588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3840479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6BAE7D"/>
          </a:solidFill>
          <a:ln>
            <a:solidFill>
              <a:srgbClr val="6BA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1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F0D0B"/>
                </a:solidFill>
                <a:latin typeface="Aptos"/>
              </a:rPr>
              <a:t>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959352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4F0E6"/>
                </a:solidFill>
                <a:latin typeface="Aptos"/>
              </a:rPr>
              <a:t>Multi-station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370831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Built for a busy service 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3520439"/>
            <a:ext cx="3337560" cy="132588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9159" y="3840479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B182EF"/>
          </a:solidFill>
          <a:ln>
            <a:solidFill>
              <a:srgbClr val="B18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4050791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F0D0B"/>
                </a:solidFill>
                <a:latin typeface="Aptos"/>
              </a:rPr>
              <a:t>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59" y="3959352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4F0E6"/>
                </a:solidFill>
                <a:latin typeface="Aptos"/>
              </a:rPr>
              <a:t>Order history and 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59" y="4370831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78F82"/>
                </a:solidFill>
                <a:latin typeface="Aptos"/>
              </a:rPr>
              <a:t>Built for a busy service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96E"/>
          </a:solidFill>
          <a:ln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Aptos"/>
              </a:rPr>
              <a:t>05  / 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0E6"/>
                </a:solidFill>
                <a:latin typeface="Aptos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457200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78F82"/>
                </a:solidFill>
                <a:latin typeface="Aptos"/>
              </a:rPr>
              <a:t>PREVA KITCHEN  / 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978F82"/>
                </a:solidFill>
                <a:latin typeface="Aptos"/>
              </a:rPr>
              <a:t>A calmer kitchen starts with shared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4983480" cy="114300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C9A96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0E6"/>
                </a:solidFill>
                <a:latin typeface="Aptos"/>
              </a:rPr>
              <a:t>Faster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80360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78F82"/>
                </a:solidFill>
                <a:latin typeface="Aptos"/>
              </a:rPr>
              <a:t>Less time searching for tickets.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86000"/>
            <a:ext cx="4983480" cy="114300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DBF8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6888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0E6"/>
                </a:solidFill>
                <a:latin typeface="Aptos"/>
              </a:rPr>
              <a:t>Fewer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880360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78F82"/>
                </a:solidFill>
                <a:latin typeface="Aptos"/>
              </a:rPr>
              <a:t>Clear items, options, notes, and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4983480" cy="114300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BAE7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0E6"/>
                </a:solidFill>
                <a:latin typeface="Aptos"/>
              </a:rPr>
              <a:t>Paperless kitchen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34840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78F82"/>
                </a:solidFill>
                <a:latin typeface="Aptos"/>
              </a:rPr>
              <a:t>One live board replaces scattered slips.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40480"/>
            <a:ext cx="4983480" cy="1143000"/>
          </a:xfrm>
          <a:prstGeom prst="roundRect">
            <a:avLst>
              <a:gd name="adj" fmla="val 12000"/>
            </a:avLst>
          </a:prstGeom>
          <a:solidFill>
            <a:srgbClr val="1C1814"/>
          </a:solidFill>
          <a:ln>
            <a:solidFill>
              <a:srgbClr val="1C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0D080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0233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0E6"/>
                </a:solidFill>
                <a:latin typeface="Aptos"/>
              </a:rPr>
              <a:t>Better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434840"/>
            <a:ext cx="3566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78F82"/>
                </a:solidFill>
                <a:latin typeface="Aptos"/>
              </a:rPr>
              <a:t>Every station sees the same truth.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989320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Aptos"/>
              </a:rPr>
              <a:t>FROM ORDER  →  TO EXPO  →  TO A BETTER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